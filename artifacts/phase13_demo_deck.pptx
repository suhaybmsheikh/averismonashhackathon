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b4a9ea9a9842fa" /><Relationship Type="http://schemas.openxmlformats.org/officeDocument/2006/relationships/extended-properties" Target="/docProps/app.xml" Id="R12a7bafe469e47e0" /><Relationship Type="http://schemas.openxmlformats.org/officeDocument/2006/relationships/officeDocument" Target="/ppt/presentation.xml" Id="Rf9c102c42b844ebc" /></Relationships>
</file>

<file path=ppt/presentation.xml><?xml version="1.0" encoding="utf-8"?>
<p:presentation xmlns:p="http://schemas.openxmlformats.org/presentationml/2006/main">
  <p:sldMasterIdLst>
    <p:sldMasterId xmlns:r="http://schemas.openxmlformats.org/officeDocument/2006/relationships" id="2147483648" r:id="R6aa6f3673674431c"/>
  </p:sldMasterIdLst>
  <p:notesMasterIdLst>
    <p:notesMasterId xmlns:r="http://schemas.openxmlformats.org/officeDocument/2006/relationships" r:id="Rde223a9154a6404a"/>
  </p:notesMasterIdLst>
  <p:sldIdLst>
    <p:sldId xmlns:r="http://schemas.openxmlformats.org/officeDocument/2006/relationships" id="256" r:id="Re5ec6046eae14144"/>
    <p:sldId xmlns:r="http://schemas.openxmlformats.org/officeDocument/2006/relationships" id="257" r:id="R809e1c5330d44217"/>
    <p:sldId xmlns:r="http://schemas.openxmlformats.org/officeDocument/2006/relationships" id="258" r:id="R8c8fae3142b4437f"/>
    <p:sldId xmlns:r="http://schemas.openxmlformats.org/officeDocument/2006/relationships" id="259" r:id="R05926eb9ec584e63"/>
    <p:sldId xmlns:r="http://schemas.openxmlformats.org/officeDocument/2006/relationships" id="260" r:id="R6dfc80a80b2c43aa"/>
    <p:sldId xmlns:r="http://schemas.openxmlformats.org/officeDocument/2006/relationships" id="261" r:id="Rbb34b8c063604d5e"/>
    <p:sldId xmlns:r="http://schemas.openxmlformats.org/officeDocument/2006/relationships" id="262" r:id="Rf56d14dd34f843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651e2c9f6048d0" /><Relationship Type="http://schemas.openxmlformats.org/officeDocument/2006/relationships/slideMaster" Target="/ppt/slideMasters/slideMaster1.xml" Id="R6aa6f3673674431c" /><Relationship Type="http://schemas.openxmlformats.org/officeDocument/2006/relationships/notesMaster" Target="/ppt/notesMasters/notesMaster1.xml" Id="Rde223a9154a6404a" /><Relationship Type="http://schemas.openxmlformats.org/officeDocument/2006/relationships/presProps" Target="/ppt/presProps.xml" Id="Rf508c878cdbd4534" /><Relationship Type="http://schemas.openxmlformats.org/officeDocument/2006/relationships/tableStyles" Target="/ppt/tableStyles.xml" Id="Rf889457ea9684f02" /><Relationship Type="http://schemas.openxmlformats.org/officeDocument/2006/relationships/slide" Target="/ppt/slides/slide1.xml" Id="Re5ec6046eae14144" /><Relationship Type="http://schemas.openxmlformats.org/officeDocument/2006/relationships/slide" Target="/ppt/slides/slide2.xml" Id="R809e1c5330d44217" /><Relationship Type="http://schemas.openxmlformats.org/officeDocument/2006/relationships/slide" Target="/ppt/slides/slide3.xml" Id="R8c8fae3142b4437f" /><Relationship Type="http://schemas.openxmlformats.org/officeDocument/2006/relationships/slide" Target="/ppt/slides/slide4.xml" Id="R05926eb9ec584e63" /><Relationship Type="http://schemas.openxmlformats.org/officeDocument/2006/relationships/slide" Target="/ppt/slides/slide5.xml" Id="R6dfc80a80b2c43aa" /><Relationship Type="http://schemas.openxmlformats.org/officeDocument/2006/relationships/slide" Target="/ppt/slides/slide6.xml" Id="Rbb34b8c063604d5e" /><Relationship Type="http://schemas.openxmlformats.org/officeDocument/2006/relationships/slide" Target="/ppt/slides/slide7.xml" Id="Rf56d14dd34f843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154227875b4d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7ac10b877f4fb6" /><Relationship Type="http://schemas.openxmlformats.org/officeDocument/2006/relationships/notesMaster" Target="/ppt/notesMasters/notesMaster1.xml" Id="R4a12bbcf925f4e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7f4524ec8a4b80" /><Relationship Type="http://schemas.openxmlformats.org/officeDocument/2006/relationships/notesMaster" Target="/ppt/notesMasters/notesMaster1.xml" Id="R6a7d19c3cf164b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1a5ab234fb42ed" /><Relationship Type="http://schemas.openxmlformats.org/officeDocument/2006/relationships/notesMaster" Target="/ppt/notesMasters/notesMaster1.xml" Id="R94d71c935cd543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ec716508f846fb" /><Relationship Type="http://schemas.openxmlformats.org/officeDocument/2006/relationships/notesMaster" Target="/ppt/notesMasters/notesMaster1.xml" Id="Rcf6103d7433a46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44dd38ca97418c" /><Relationship Type="http://schemas.openxmlformats.org/officeDocument/2006/relationships/notesMaster" Target="/ppt/notesMasters/notesMaster1.xml" Id="R61b5f818fd1b49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3a250b376e4af7" /><Relationship Type="http://schemas.openxmlformats.org/officeDocument/2006/relationships/notesMaster" Target="/ppt/notesMasters/notesMaster1.xml" Id="R1f28f1d7c40d4c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0c59649966464d" /><Relationship Type="http://schemas.openxmlformats.org/officeDocument/2006/relationships/notesMaster" Target="/ppt/notesMasters/notesMaster1.xml" Id="Rd65b50ee6b624a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overview. Evidence: repository README and PROJECT_ROADMAP.md.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framing from PROJECT_ROADMAP.md.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follows README and PROJECT_ROADMAP.md.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Phase 4, 7, 9, and 11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Phase 8 and Phase 9 UI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docs/score_log.md and docs/submit_summary.md, 2026-09-20.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 docs/phase12_limitations.md. Demo procedure: docs/demo_rehearsal.md.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1b7adc08364a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071e6a50374307" /><Relationship Type="http://schemas.openxmlformats.org/officeDocument/2006/relationships/slideLayout" Target="/ppt/slideLayouts/slideLayout1.xml" Id="R64a9aec010b848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a9aec010b848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1c4dc36a844ca6" /><Relationship Type="http://schemas.openxmlformats.org/officeDocument/2006/relationships/notesSlide" Target="/ppt/notesSlides/notesSlide1.xml" Id="R0cc4583d28684b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5aa90e5ae7475c" /><Relationship Type="http://schemas.openxmlformats.org/officeDocument/2006/relationships/notesSlide" Target="/ppt/notesSlides/notesSlide2.xml" Id="R499e8a7b07bc4d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8467d7b3424f9a" /><Relationship Type="http://schemas.openxmlformats.org/officeDocument/2006/relationships/notesSlide" Target="/ppt/notesSlides/notesSlide3.xml" Id="R77981473ac714a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7f013a423c4c72" /><Relationship Type="http://schemas.openxmlformats.org/officeDocument/2006/relationships/notesSlide" Target="/ppt/notesSlides/notesSlide4.xml" Id="R8243f4f9769443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eaeb498835499d" /><Relationship Type="http://schemas.openxmlformats.org/officeDocument/2006/relationships/notesSlide" Target="/ppt/notesSlides/notesSlide5.xml" Id="Rf0a9954f311e4d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5217aea3a14482" /><Relationship Type="http://schemas.openxmlformats.org/officeDocument/2006/relationships/notesSlide" Target="/ppt/notesSlides/notesSlide6.xml" Id="R437d92ea31ec47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6f373fcfed45dd" /><Relationship Type="http://schemas.openxmlformats.org/officeDocument/2006/relationships/notesSlide" Target="/ppt/notesSlides/notesSlide7.xml" Id="Rf5bb99a936b2447a" /></Relationships>
</file>

<file path=ppt/slides/slide1.xml><?xml version="1.0" encoding="utf-8"?>
<p:sld xmlns:p="http://schemas.openxmlformats.org/presentationml/2006/main">
  <p:cSld>
    <p:bg>
      <p:bgPr>
        <a:solidFill xmlns:a="http://schemas.openxmlformats.org/drawingml/2006/main">
          <a:srgbClr val="2355D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33FC86B-3FAB-4FF6-9EEA-4D0AAFC706CF}"/>
              </a:ext>
            </a:extLst>
          </p:cNvPr>
          <p:cNvSpPr>
            <a:spLocks xmlns:a="http://schemas.openxmlformats.org/drawingml/2006/main" noGrp="1"/>
          </p:cNvSpPr>
          <p:nvPr/>
        </p:nvSpPr>
        <p:spPr>
          <a:xfrm xmlns:a="http://schemas.openxmlformats.org/drawingml/2006/main">
            <a:off x="781050" y="1571625"/>
            <a:ext cx="857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Shipping Document</a:t>
            </a:r>
          </a:p>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Verification</a:t>
            </a:r>
          </a:p>
        </p:txBody>
      </p:sp>
      <p:sp>
        <p:nvSpPr>
          <p:cNvPr id="2" name="">
            <a:extLst xmlns:a="http://schemas.openxmlformats.org/drawingml/2006/main">
              <a:ext uri="{FF2B5EF4-FFF2-40B4-BE49-F238E27FC236}">
                <a16:creationId xmlns:a16="http://schemas.microsoft.com/office/drawing/2014/main" id="{9074E937-75C6-4C55-99D7-248665CD9B02}"/>
              </a:ext>
            </a:extLst>
          </p:cNvPr>
          <p:cNvSpPr>
            <a:spLocks xmlns:a="http://schemas.openxmlformats.org/drawingml/2006/main" noGrp="1"/>
          </p:cNvSpPr>
          <p:nvPr/>
        </p:nvSpPr>
        <p:spPr>
          <a:xfrm xmlns:a="http://schemas.openxmlformats.org/drawingml/2006/main">
            <a:off x="819150" y="361950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0">
                <a:solidFill>
                  <a:srgbClr val="E8EFFF"/>
                </a:solidFill>
                <a:latin typeface="Arial"/>
                <a:ea typeface="Arial"/>
                <a:cs typeface="Arial"/>
              </a:defRPr>
            </a:pPr>
            <a:r>
              <a:rPr sz="1950" b="0">
                <a:solidFill>
                  <a:srgbClr val="E8EFFF"/>
                </a:solidFill>
                <a:latin typeface="Arial"/>
                <a:ea typeface="Arial"/>
                <a:cs typeface="Arial"/>
              </a:rPr>
              <a:t>Explainable SI and draft BL checks for a mixed-format inbox</a:t>
            </a:r>
          </a:p>
        </p:txBody>
      </p:sp>
      <p:sp>
        <p:nvSpPr>
          <p:cNvPr id="3" name="">
            <a:extLst xmlns:a="http://schemas.openxmlformats.org/drawingml/2006/main">
              <a:ext uri="{FF2B5EF4-FFF2-40B4-BE49-F238E27FC236}">
                <a16:creationId xmlns:a16="http://schemas.microsoft.com/office/drawing/2014/main" id="{F4440A31-D036-445B-A066-0FB6A0C229AA}"/>
              </a:ext>
            </a:extLst>
          </p:cNvPr>
          <p:cNvSpPr>
            <a:spLocks xmlns:a="http://schemas.openxmlformats.org/drawingml/2006/main" noGrp="1"/>
          </p:cNvSpPr>
          <p:nvPr/>
        </p:nvSpPr>
        <p:spPr>
          <a:xfrm xmlns:a="http://schemas.openxmlformats.org/drawingml/2006/main">
            <a:off x="819150" y="58293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Averis × Monash Hackathon</a:t>
            </a:r>
          </a:p>
        </p:txBody>
      </p:sp>
    </p:spTree>
    <p:extLst>
      <p:ext uri="{BB962C8B-B14F-4D97-AF65-F5344CB8AC3E}">
        <p14:creationId xmlns:p14="http://schemas.microsoft.com/office/powerpoint/2010/main" val="1406011995"/>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E105CC-E81D-4A40-8A01-4E2B5E77AEFB}"/>
              </a:ext>
            </a:extLst>
          </p:cNvPr>
          <p:cNvSpPr>
            <a:spLocks xmlns:a="http://schemas.openxmlformats.org/drawingml/2006/main" noGrp="1"/>
          </p:cNvSpPr>
          <p:nvPr/>
        </p:nvSpPr>
        <p:spPr>
          <a:xfrm xmlns:a="http://schemas.openxmlformats.org/drawingml/2006/main">
            <a:off x="685800" y="4000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2355D9"/>
                </a:solidFill>
                <a:latin typeface="Arial"/>
                <a:ea typeface="Arial"/>
                <a:cs typeface="Arial"/>
              </a:defRPr>
            </a:pPr>
            <a:r>
              <a:rPr sz="1200" b="1">
                <a:solidFill>
                  <a:srgbClr val="2355D9"/>
                </a:solidFill>
                <a:latin typeface="Arial"/>
                <a:ea typeface="Arial"/>
                <a:cs typeface="Arial"/>
              </a:rPr>
              <a:t>AVERIS × MONASH</a:t>
            </a:r>
          </a:p>
        </p:txBody>
      </p:sp>
      <p:sp>
        <p:nvSpPr>
          <p:cNvPr id="2" name="">
            <a:extLst xmlns:a="http://schemas.openxmlformats.org/drawingml/2006/main">
              <a:ext uri="{FF2B5EF4-FFF2-40B4-BE49-F238E27FC236}">
                <a16:creationId xmlns:a16="http://schemas.microsoft.com/office/drawing/2014/main" id="{A15E8C62-D851-420C-99F4-7BE73479D67D}"/>
              </a:ext>
            </a:extLst>
          </p:cNvPr>
          <p:cNvSpPr>
            <a:spLocks xmlns:a="http://schemas.openxmlformats.org/drawingml/2006/main" noGrp="1"/>
          </p:cNvSpPr>
          <p:nvPr/>
        </p:nvSpPr>
        <p:spPr>
          <a:xfrm xmlns:a="http://schemas.openxmlformats.org/drawingml/2006/main">
            <a:off x="685800" y="8763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72033"/>
                </a:solidFill>
                <a:latin typeface="Arial"/>
                <a:ea typeface="Arial"/>
                <a:cs typeface="Arial"/>
              </a:defRPr>
            </a:pPr>
            <a:r>
              <a:rPr sz="3000" b="1">
                <a:solidFill>
                  <a:srgbClr val="172033"/>
                </a:solidFill>
                <a:latin typeface="Arial"/>
                <a:ea typeface="Arial"/>
                <a:cs typeface="Arial"/>
              </a:rPr>
              <a:t>The operational problem</a:t>
            </a:r>
          </a:p>
        </p:txBody>
      </p:sp>
      <p:sp>
        <p:nvSpPr>
          <p:cNvPr id="3" name="">
            <a:extLst xmlns:a="http://schemas.openxmlformats.org/drawingml/2006/main">
              <a:ext uri="{FF2B5EF4-FFF2-40B4-BE49-F238E27FC236}">
                <a16:creationId xmlns:a16="http://schemas.microsoft.com/office/drawing/2014/main" id="{691E461E-1E19-477A-9F92-88ADFF96642F}"/>
              </a:ext>
            </a:extLst>
          </p:cNvPr>
          <p:cNvSpPr>
            <a:spLocks xmlns:a="http://schemas.openxmlformats.org/drawingml/2006/main" noGrp="1"/>
          </p:cNvSpPr>
          <p:nvPr/>
        </p:nvSpPr>
        <p:spPr>
          <a:xfrm xmlns:a="http://schemas.openxmlformats.org/drawingml/2006/main">
            <a:off x="742950" y="1905000"/>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Shipping teams receive instructions and draft bills across text, spreadsheets, Word files, PDFs, scans, and email bodies. A missed discrepancy can create downstream rework. The desk makes the decision and its evidence visible.</a:t>
            </a:r>
          </a:p>
        </p:txBody>
      </p:sp>
      <p:sp>
        <p:nvSpPr>
          <p:cNvPr id="4" name="">
            <a:extLst xmlns:a="http://schemas.openxmlformats.org/drawingml/2006/main">
              <a:ext uri="{FF2B5EF4-FFF2-40B4-BE49-F238E27FC236}">
                <a16:creationId xmlns:a16="http://schemas.microsoft.com/office/drawing/2014/main" id="{9A79FEAD-2E1D-4A9B-B7EC-FEF498507C53}"/>
              </a:ext>
            </a:extLst>
          </p:cNvPr>
          <p:cNvSpPr>
            <a:spLocks xmlns:a="http://schemas.openxmlformats.org/drawingml/2006/main" noGrp="1"/>
          </p:cNvSpPr>
          <p:nvPr/>
        </p:nvSpPr>
        <p:spPr>
          <a:xfrm xmlns:a="http://schemas.openxmlformats.org/drawingml/2006/main">
            <a:off x="685800" y="63246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Shipping Document Verification</a:t>
            </a:r>
          </a:p>
        </p:txBody>
      </p:sp>
    </p:spTree>
    <p:extLst>
      <p:ext uri="{BB962C8B-B14F-4D97-AF65-F5344CB8AC3E}">
        <p14:creationId xmlns:p14="http://schemas.microsoft.com/office/powerpoint/2010/main" val="1368948805"/>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A60B1A-D6E8-4895-8D07-FCEB0FF6197B}"/>
              </a:ext>
            </a:extLst>
          </p:cNvPr>
          <p:cNvSpPr>
            <a:spLocks xmlns:a="http://schemas.openxmlformats.org/drawingml/2006/main" noGrp="1"/>
          </p:cNvSpPr>
          <p:nvPr/>
        </p:nvSpPr>
        <p:spPr>
          <a:xfrm xmlns:a="http://schemas.openxmlformats.org/drawingml/2006/main">
            <a:off x="685800" y="4000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2355D9"/>
                </a:solidFill>
                <a:latin typeface="Arial"/>
                <a:ea typeface="Arial"/>
                <a:cs typeface="Arial"/>
              </a:defRPr>
            </a:pPr>
            <a:r>
              <a:rPr sz="1200" b="1">
                <a:solidFill>
                  <a:srgbClr val="2355D9"/>
                </a:solidFill>
                <a:latin typeface="Arial"/>
                <a:ea typeface="Arial"/>
                <a:cs typeface="Arial"/>
              </a:rPr>
              <a:t>AVERIS × MONASH</a:t>
            </a:r>
          </a:p>
        </p:txBody>
      </p:sp>
      <p:sp>
        <p:nvSpPr>
          <p:cNvPr id="2" name="">
            <a:extLst xmlns:a="http://schemas.openxmlformats.org/drawingml/2006/main">
              <a:ext uri="{FF2B5EF4-FFF2-40B4-BE49-F238E27FC236}">
                <a16:creationId xmlns:a16="http://schemas.microsoft.com/office/drawing/2014/main" id="{B128C502-2AEE-48E0-8E38-E049377EB1E6}"/>
              </a:ext>
            </a:extLst>
          </p:cNvPr>
          <p:cNvSpPr>
            <a:spLocks xmlns:a="http://schemas.openxmlformats.org/drawingml/2006/main" noGrp="1"/>
          </p:cNvSpPr>
          <p:nvPr/>
        </p:nvSpPr>
        <p:spPr>
          <a:xfrm xmlns:a="http://schemas.openxmlformats.org/drawingml/2006/main">
            <a:off x="685800" y="8763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72033"/>
                </a:solidFill>
                <a:latin typeface="Arial"/>
                <a:ea typeface="Arial"/>
                <a:cs typeface="Arial"/>
              </a:defRPr>
            </a:pPr>
            <a:r>
              <a:rPr sz="3000" b="1">
                <a:solidFill>
                  <a:srgbClr val="172033"/>
                </a:solidFill>
                <a:latin typeface="Arial"/>
                <a:ea typeface="Arial"/>
                <a:cs typeface="Arial"/>
              </a:rPr>
              <a:t>Pipeline architecture</a:t>
            </a:r>
          </a:p>
        </p:txBody>
      </p:sp>
      <p:sp>
        <p:nvSpPr>
          <p:cNvPr id="3" name="">
            <a:extLst xmlns:a="http://schemas.openxmlformats.org/drawingml/2006/main">
              <a:ext uri="{FF2B5EF4-FFF2-40B4-BE49-F238E27FC236}">
                <a16:creationId xmlns:a16="http://schemas.microsoft.com/office/drawing/2014/main" id="{5145A21C-BE42-44C8-A4B9-7441AF51D07C}"/>
              </a:ext>
            </a:extLst>
          </p:cNvPr>
          <p:cNvSpPr>
            <a:spLocks xmlns:a="http://schemas.openxmlformats.org/drawingml/2006/main" noGrp="1"/>
          </p:cNvSpPr>
          <p:nvPr/>
        </p:nvSpPr>
        <p:spPr>
          <a:xfrm xmlns:a="http://schemas.openxmlformats.org/drawingml/2006/main">
            <a:off x="742950" y="1905000"/>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Read-only inbox</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Canonical conversion with content hashes</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Rules-first classification with an optional cached Gemini fallback</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Seven-field extraction and normalization</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Deterministic SI versus BL comparison</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Human review, audit trail, validated submission, offline snapshot</a:t>
            </a:r>
          </a:p>
        </p:txBody>
      </p:sp>
      <p:sp>
        <p:nvSpPr>
          <p:cNvPr id="4" name="">
            <a:extLst xmlns:a="http://schemas.openxmlformats.org/drawingml/2006/main">
              <a:ext uri="{FF2B5EF4-FFF2-40B4-BE49-F238E27FC236}">
                <a16:creationId xmlns:a16="http://schemas.microsoft.com/office/drawing/2014/main" id="{B8FE9F85-3F12-4B24-A4C7-3057D406E589}"/>
              </a:ext>
            </a:extLst>
          </p:cNvPr>
          <p:cNvSpPr>
            <a:spLocks xmlns:a="http://schemas.openxmlformats.org/drawingml/2006/main" noGrp="1"/>
          </p:cNvSpPr>
          <p:nvPr/>
        </p:nvSpPr>
        <p:spPr>
          <a:xfrm xmlns:a="http://schemas.openxmlformats.org/drawingml/2006/main">
            <a:off x="685800" y="63246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Shipping Document Verification</a:t>
            </a:r>
          </a:p>
        </p:txBody>
      </p:sp>
    </p:spTree>
    <p:extLst>
      <p:ext uri="{BB962C8B-B14F-4D97-AF65-F5344CB8AC3E}">
        <p14:creationId xmlns:p14="http://schemas.microsoft.com/office/powerpoint/2010/main" val="1310540951"/>
      </p:ext>
    </p:extLst>
  </p:cSld>
</p:sld>
</file>

<file path=ppt/slides/slide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7DC140-8EEC-4C2E-9F99-7EF55B459316}"/>
              </a:ext>
            </a:extLst>
          </p:cNvPr>
          <p:cNvSpPr>
            <a:spLocks xmlns:a="http://schemas.openxmlformats.org/drawingml/2006/main" noGrp="1"/>
          </p:cNvSpPr>
          <p:nvPr/>
        </p:nvSpPr>
        <p:spPr>
          <a:xfrm xmlns:a="http://schemas.openxmlformats.org/drawingml/2006/main">
            <a:off x="685800" y="4000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2355D9"/>
                </a:solidFill>
                <a:latin typeface="Arial"/>
                <a:ea typeface="Arial"/>
                <a:cs typeface="Arial"/>
              </a:defRPr>
            </a:pPr>
            <a:r>
              <a:rPr sz="1200" b="1">
                <a:solidFill>
                  <a:srgbClr val="2355D9"/>
                </a:solidFill>
                <a:latin typeface="Arial"/>
                <a:ea typeface="Arial"/>
                <a:cs typeface="Arial"/>
              </a:rPr>
              <a:t>AVERIS × MONASH</a:t>
            </a:r>
          </a:p>
        </p:txBody>
      </p:sp>
      <p:sp>
        <p:nvSpPr>
          <p:cNvPr id="2" name="">
            <a:extLst xmlns:a="http://schemas.openxmlformats.org/drawingml/2006/main">
              <a:ext uri="{FF2B5EF4-FFF2-40B4-BE49-F238E27FC236}">
                <a16:creationId xmlns:a16="http://schemas.microsoft.com/office/drawing/2014/main" id="{62C9C195-0BFF-4B93-933B-6BF266C9FBC9}"/>
              </a:ext>
            </a:extLst>
          </p:cNvPr>
          <p:cNvSpPr>
            <a:spLocks xmlns:a="http://schemas.openxmlformats.org/drawingml/2006/main" noGrp="1"/>
          </p:cNvSpPr>
          <p:nvPr/>
        </p:nvSpPr>
        <p:spPr>
          <a:xfrm xmlns:a="http://schemas.openxmlformats.org/drawingml/2006/main">
            <a:off x="685800" y="8763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72033"/>
                </a:solidFill>
                <a:latin typeface="Arial"/>
                <a:ea typeface="Arial"/>
                <a:cs typeface="Arial"/>
              </a:defRPr>
            </a:pPr>
            <a:r>
              <a:rPr sz="3000" b="1">
                <a:solidFill>
                  <a:srgbClr val="172033"/>
                </a:solidFill>
                <a:latin typeface="Arial"/>
                <a:ea typeface="Arial"/>
                <a:cs typeface="Arial"/>
              </a:rPr>
              <a:t>Reliability controls</a:t>
            </a:r>
          </a:p>
        </p:txBody>
      </p:sp>
      <p:sp>
        <p:nvSpPr>
          <p:cNvPr id="3" name="">
            <a:extLst xmlns:a="http://schemas.openxmlformats.org/drawingml/2006/main">
              <a:ext uri="{FF2B5EF4-FFF2-40B4-BE49-F238E27FC236}">
                <a16:creationId xmlns:a16="http://schemas.microsoft.com/office/drawing/2014/main" id="{2636DCBC-76F0-446B-9194-A39A1481064D}"/>
              </a:ext>
            </a:extLst>
          </p:cNvPr>
          <p:cNvSpPr>
            <a:spLocks xmlns:a="http://schemas.openxmlformats.org/drawingml/2006/main" noGrp="1"/>
          </p:cNvSpPr>
          <p:nvPr/>
        </p:nvSpPr>
        <p:spPr>
          <a:xfrm xmlns:a="http://schemas.openxmlformats.org/drawingml/2006/main">
            <a:off x="742950" y="1905000"/>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Canonical text gives every format one parser. Deterministic comparison avoids model guesswork on material fields. Low confidence, corrupt files, missing attachments, and unknown document roles route to review. The Runs page records failures and offers safe retries.</a:t>
            </a:r>
          </a:p>
        </p:txBody>
      </p:sp>
      <p:sp>
        <p:nvSpPr>
          <p:cNvPr id="4" name="">
            <a:extLst xmlns:a="http://schemas.openxmlformats.org/drawingml/2006/main">
              <a:ext uri="{FF2B5EF4-FFF2-40B4-BE49-F238E27FC236}">
                <a16:creationId xmlns:a16="http://schemas.microsoft.com/office/drawing/2014/main" id="{6BFF6698-DB97-438C-9CA0-0A646F8B802D}"/>
              </a:ext>
            </a:extLst>
          </p:cNvPr>
          <p:cNvSpPr>
            <a:spLocks xmlns:a="http://schemas.openxmlformats.org/drawingml/2006/main" noGrp="1"/>
          </p:cNvSpPr>
          <p:nvPr/>
        </p:nvSpPr>
        <p:spPr>
          <a:xfrm xmlns:a="http://schemas.openxmlformats.org/drawingml/2006/main">
            <a:off x="685800" y="63246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Shipping Document Verification</a:t>
            </a:r>
          </a:p>
        </p:txBody>
      </p:sp>
    </p:spTree>
    <p:extLst>
      <p:ext uri="{BB962C8B-B14F-4D97-AF65-F5344CB8AC3E}">
        <p14:creationId xmlns:p14="http://schemas.microsoft.com/office/powerpoint/2010/main" val="2128038593"/>
      </p:ext>
    </p:extLst>
  </p:cSld>
</p:sld>
</file>

<file path=ppt/slides/slide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BB91A2-4FE1-4882-A0B1-FC8B6B58EEAD}"/>
              </a:ext>
            </a:extLst>
          </p:cNvPr>
          <p:cNvSpPr>
            <a:spLocks xmlns:a="http://schemas.openxmlformats.org/drawingml/2006/main" noGrp="1"/>
          </p:cNvSpPr>
          <p:nvPr/>
        </p:nvSpPr>
        <p:spPr>
          <a:xfrm xmlns:a="http://schemas.openxmlformats.org/drawingml/2006/main">
            <a:off x="685800" y="4000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2355D9"/>
                </a:solidFill>
                <a:latin typeface="Arial"/>
                <a:ea typeface="Arial"/>
                <a:cs typeface="Arial"/>
              </a:defRPr>
            </a:pPr>
            <a:r>
              <a:rPr sz="1200" b="1">
                <a:solidFill>
                  <a:srgbClr val="2355D9"/>
                </a:solidFill>
                <a:latin typeface="Arial"/>
                <a:ea typeface="Arial"/>
                <a:cs typeface="Arial"/>
              </a:rPr>
              <a:t>AVERIS × MONASH</a:t>
            </a:r>
          </a:p>
        </p:txBody>
      </p:sp>
      <p:sp>
        <p:nvSpPr>
          <p:cNvPr id="2" name="">
            <a:extLst xmlns:a="http://schemas.openxmlformats.org/drawingml/2006/main">
              <a:ext uri="{FF2B5EF4-FFF2-40B4-BE49-F238E27FC236}">
                <a16:creationId xmlns:a16="http://schemas.microsoft.com/office/drawing/2014/main" id="{DD2E8477-F3D3-4712-B7EB-352CED96EFA3}"/>
              </a:ext>
            </a:extLst>
          </p:cNvPr>
          <p:cNvSpPr>
            <a:spLocks xmlns:a="http://schemas.openxmlformats.org/drawingml/2006/main" noGrp="1"/>
          </p:cNvSpPr>
          <p:nvPr/>
        </p:nvSpPr>
        <p:spPr>
          <a:xfrm xmlns:a="http://schemas.openxmlformats.org/drawingml/2006/main">
            <a:off x="685800" y="8763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72033"/>
                </a:solidFill>
                <a:latin typeface="Arial"/>
                <a:ea typeface="Arial"/>
                <a:cs typeface="Arial"/>
              </a:defRPr>
            </a:pPr>
            <a:r>
              <a:rPr sz="3000" b="1">
                <a:solidFill>
                  <a:srgbClr val="172033"/>
                </a:solidFill>
                <a:latin typeface="Arial"/>
                <a:ea typeface="Arial"/>
                <a:cs typeface="Arial"/>
              </a:rPr>
              <a:t>What the reviewer sees</a:t>
            </a:r>
          </a:p>
        </p:txBody>
      </p:sp>
      <p:sp>
        <p:nvSpPr>
          <p:cNvPr id="3" name="">
            <a:extLst xmlns:a="http://schemas.openxmlformats.org/drawingml/2006/main">
              <a:ext uri="{FF2B5EF4-FFF2-40B4-BE49-F238E27FC236}">
                <a16:creationId xmlns:a16="http://schemas.microsoft.com/office/drawing/2014/main" id="{2602F351-DB57-4B90-8A8F-EF0209564E34}"/>
              </a:ext>
            </a:extLst>
          </p:cNvPr>
          <p:cNvSpPr>
            <a:spLocks xmlns:a="http://schemas.openxmlformats.org/drawingml/2006/main" noGrp="1"/>
          </p:cNvSpPr>
          <p:nvPr/>
        </p:nvSpPr>
        <p:spPr>
          <a:xfrm xmlns:a="http://schemas.openxmlformats.org/drawingml/2006/main">
            <a:off x="742950" y="1905000"/>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Open a BL comparison to inspect seven fixed field rows. The SI stays as the reference. Only the differing BL text receives a highlight. Uncertain cases expose source evidence, reviewer overlays, and an append-only audit trail.</a:t>
            </a:r>
          </a:p>
        </p:txBody>
      </p:sp>
      <p:sp>
        <p:nvSpPr>
          <p:cNvPr id="4" name="">
            <a:extLst xmlns:a="http://schemas.openxmlformats.org/drawingml/2006/main">
              <a:ext uri="{FF2B5EF4-FFF2-40B4-BE49-F238E27FC236}">
                <a16:creationId xmlns:a16="http://schemas.microsoft.com/office/drawing/2014/main" id="{B051A385-933A-4E58-B148-9A71828FF9C6}"/>
              </a:ext>
            </a:extLst>
          </p:cNvPr>
          <p:cNvSpPr>
            <a:spLocks xmlns:a="http://schemas.openxmlformats.org/drawingml/2006/main" noGrp="1"/>
          </p:cNvSpPr>
          <p:nvPr/>
        </p:nvSpPr>
        <p:spPr>
          <a:xfrm xmlns:a="http://schemas.openxmlformats.org/drawingml/2006/main">
            <a:off x="685800" y="63246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Shipping Document Verification</a:t>
            </a:r>
          </a:p>
        </p:txBody>
      </p:sp>
    </p:spTree>
    <p:extLst>
      <p:ext uri="{BB962C8B-B14F-4D97-AF65-F5344CB8AC3E}">
        <p14:creationId xmlns:p14="http://schemas.microsoft.com/office/powerpoint/2010/main" val="621746475"/>
      </p:ext>
    </p:extLst>
  </p:cSld>
</p:sld>
</file>

<file path=ppt/slides/slide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306B54-E788-4738-84C8-33C0243454DF}"/>
              </a:ext>
            </a:extLst>
          </p:cNvPr>
          <p:cNvSpPr>
            <a:spLocks xmlns:a="http://schemas.openxmlformats.org/drawingml/2006/main" noGrp="1"/>
          </p:cNvSpPr>
          <p:nvPr/>
        </p:nvSpPr>
        <p:spPr>
          <a:xfrm xmlns:a="http://schemas.openxmlformats.org/drawingml/2006/main">
            <a:off x="685800" y="4000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2355D9"/>
                </a:solidFill>
                <a:latin typeface="Arial"/>
                <a:ea typeface="Arial"/>
                <a:cs typeface="Arial"/>
              </a:defRPr>
            </a:pPr>
            <a:r>
              <a:rPr sz="1200" b="1">
                <a:solidFill>
                  <a:srgbClr val="2355D9"/>
                </a:solidFill>
                <a:latin typeface="Arial"/>
                <a:ea typeface="Arial"/>
                <a:cs typeface="Arial"/>
              </a:rPr>
              <a:t>AVERIS × MONASH</a:t>
            </a:r>
          </a:p>
        </p:txBody>
      </p:sp>
      <p:sp>
        <p:nvSpPr>
          <p:cNvPr id="2" name="">
            <a:extLst xmlns:a="http://schemas.openxmlformats.org/drawingml/2006/main">
              <a:ext uri="{FF2B5EF4-FFF2-40B4-BE49-F238E27FC236}">
                <a16:creationId xmlns:a16="http://schemas.microsoft.com/office/drawing/2014/main" id="{A8B42CC9-BEB8-4419-B14E-B28C1B08F40A}"/>
              </a:ext>
            </a:extLst>
          </p:cNvPr>
          <p:cNvSpPr>
            <a:spLocks xmlns:a="http://schemas.openxmlformats.org/drawingml/2006/main" noGrp="1"/>
          </p:cNvSpPr>
          <p:nvPr/>
        </p:nvSpPr>
        <p:spPr>
          <a:xfrm xmlns:a="http://schemas.openxmlformats.org/drawingml/2006/main">
            <a:off x="685800" y="8763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72033"/>
                </a:solidFill>
                <a:latin typeface="Arial"/>
                <a:ea typeface="Arial"/>
                <a:cs typeface="Arial"/>
              </a:defRPr>
            </a:pPr>
            <a:r>
              <a:rPr sz="3000" b="1">
                <a:solidFill>
                  <a:srgbClr val="172033"/>
                </a:solidFill>
                <a:latin typeface="Arial"/>
                <a:ea typeface="Arial"/>
                <a:cs typeface="Arial"/>
              </a:rPr>
              <a:t>Evaluation results</a:t>
            </a:r>
          </a:p>
        </p:txBody>
      </p:sp>
      <p:sp>
        <p:nvSpPr>
          <p:cNvPr id="3" name="">
            <a:extLst xmlns:a="http://schemas.openxmlformats.org/drawingml/2006/main">
              <a:ext uri="{FF2B5EF4-FFF2-40B4-BE49-F238E27FC236}">
                <a16:creationId xmlns:a16="http://schemas.microsoft.com/office/drawing/2014/main" id="{AAD7C92A-FDEB-4758-9DF2-A5F7C14731CD}"/>
              </a:ext>
            </a:extLst>
          </p:cNvPr>
          <p:cNvSpPr>
            <a:spLocks xmlns:a="http://schemas.openxmlformats.org/drawingml/2006/main" noGrp="1"/>
          </p:cNvSpPr>
          <p:nvPr/>
        </p:nvSpPr>
        <p:spPr>
          <a:xfrm xmlns:a="http://schemas.openxmlformats.org/drawingml/2006/main">
            <a:off x="742950" y="1905000"/>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Round 2 organizer submission</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Final score: 1.000000</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Stage 1 accuracy: 1.000000</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Stage 3 field F1: 1.000000</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End-to-end rate: 1.000000</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Escalation precision: 1.000000</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Escalation recall: 0.850000</a:t>
            </a:r>
          </a:p>
          <a:p xmlns:a="http://schemas.openxmlformats.org/drawingml/2006/main">
            <a:r>
              <a:t/>
            </a:r>
          </a:p>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The team used full validated submissions only; no individual-email probing.</a:t>
            </a:r>
          </a:p>
        </p:txBody>
      </p:sp>
      <p:sp>
        <p:nvSpPr>
          <p:cNvPr id="4" name="">
            <a:extLst xmlns:a="http://schemas.openxmlformats.org/drawingml/2006/main">
              <a:ext uri="{FF2B5EF4-FFF2-40B4-BE49-F238E27FC236}">
                <a16:creationId xmlns:a16="http://schemas.microsoft.com/office/drawing/2014/main" id="{C3AED6FD-5847-44D1-A875-64593ABD9932}"/>
              </a:ext>
            </a:extLst>
          </p:cNvPr>
          <p:cNvSpPr>
            <a:spLocks xmlns:a="http://schemas.openxmlformats.org/drawingml/2006/main" noGrp="1"/>
          </p:cNvSpPr>
          <p:nvPr/>
        </p:nvSpPr>
        <p:spPr>
          <a:xfrm xmlns:a="http://schemas.openxmlformats.org/drawingml/2006/main">
            <a:off x="685800" y="63246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Shipping Document Verification</a:t>
            </a:r>
          </a:p>
        </p:txBody>
      </p:sp>
    </p:spTree>
    <p:extLst>
      <p:ext uri="{BB962C8B-B14F-4D97-AF65-F5344CB8AC3E}">
        <p14:creationId xmlns:p14="http://schemas.microsoft.com/office/powerpoint/2010/main" val="667177207"/>
      </p:ext>
    </p:extLst>
  </p:cSld>
</p:sld>
</file>

<file path=ppt/slides/slide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0DCD32-DA78-4A4E-A74B-25EF25E8794C}"/>
              </a:ext>
            </a:extLst>
          </p:cNvPr>
          <p:cNvSpPr>
            <a:spLocks xmlns:a="http://schemas.openxmlformats.org/drawingml/2006/main" noGrp="1"/>
          </p:cNvSpPr>
          <p:nvPr/>
        </p:nvSpPr>
        <p:spPr>
          <a:xfrm xmlns:a="http://schemas.openxmlformats.org/drawingml/2006/main">
            <a:off x="685800" y="4000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2355D9"/>
                </a:solidFill>
                <a:latin typeface="Arial"/>
                <a:ea typeface="Arial"/>
                <a:cs typeface="Arial"/>
              </a:defRPr>
            </a:pPr>
            <a:r>
              <a:rPr sz="1200" b="1">
                <a:solidFill>
                  <a:srgbClr val="2355D9"/>
                </a:solidFill>
                <a:latin typeface="Arial"/>
                <a:ea typeface="Arial"/>
                <a:cs typeface="Arial"/>
              </a:rPr>
              <a:t>AVERIS × MONASH</a:t>
            </a:r>
          </a:p>
        </p:txBody>
      </p:sp>
      <p:sp>
        <p:nvSpPr>
          <p:cNvPr id="2" name="">
            <a:extLst xmlns:a="http://schemas.openxmlformats.org/drawingml/2006/main">
              <a:ext uri="{FF2B5EF4-FFF2-40B4-BE49-F238E27FC236}">
                <a16:creationId xmlns:a16="http://schemas.microsoft.com/office/drawing/2014/main" id="{7D14978D-4E70-4F8A-9072-617C5C44AEB0}"/>
              </a:ext>
            </a:extLst>
          </p:cNvPr>
          <p:cNvSpPr>
            <a:spLocks xmlns:a="http://schemas.openxmlformats.org/drawingml/2006/main" noGrp="1"/>
          </p:cNvSpPr>
          <p:nvPr/>
        </p:nvSpPr>
        <p:spPr>
          <a:xfrm xmlns:a="http://schemas.openxmlformats.org/drawingml/2006/main">
            <a:off x="685800" y="8763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72033"/>
                </a:solidFill>
                <a:latin typeface="Arial"/>
                <a:ea typeface="Arial"/>
                <a:cs typeface="Arial"/>
              </a:defRPr>
            </a:pPr>
            <a:r>
              <a:rPr sz="3000" b="1">
                <a:solidFill>
                  <a:srgbClr val="172033"/>
                </a:solidFill>
                <a:latin typeface="Arial"/>
                <a:ea typeface="Arial"/>
                <a:cs typeface="Arial"/>
              </a:rPr>
              <a:t>Limitations and next steps</a:t>
            </a:r>
          </a:p>
        </p:txBody>
      </p:sp>
      <p:sp>
        <p:nvSpPr>
          <p:cNvPr id="3" name="">
            <a:extLst xmlns:a="http://schemas.openxmlformats.org/drawingml/2006/main">
              <a:ext uri="{FF2B5EF4-FFF2-40B4-BE49-F238E27FC236}">
                <a16:creationId xmlns:a16="http://schemas.microsoft.com/office/drawing/2014/main" id="{489D282B-6919-421B-8486-121E7D8B25C7}"/>
              </a:ext>
            </a:extLst>
          </p:cNvPr>
          <p:cNvSpPr>
            <a:spLocks xmlns:a="http://schemas.openxmlformats.org/drawingml/2006/main" noGrp="1"/>
          </p:cNvSpPr>
          <p:nvPr/>
        </p:nvSpPr>
        <p:spPr>
          <a:xfrm xmlns:a="http://schemas.openxmlformats.org/drawingml/2006/main">
            <a:off x="742950" y="1905000"/>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26344D"/>
                </a:solidFill>
                <a:latin typeface="Arial"/>
                <a:ea typeface="Arial"/>
                <a:cs typeface="Arial"/>
              </a:defRPr>
            </a:pPr>
            <a:r>
              <a:rPr sz="1875" b="0">
                <a:solidFill>
                  <a:srgbClr val="26344D"/>
                </a:solidFill>
                <a:latin typeface="Arial"/>
                <a:ea typeface="Arial"/>
                <a:cs typeface="Arial"/>
              </a:rPr>
              <a:t>Address comparison follows the documented party-name policy. Scan extraction can remain uncertain and routes to review. Gemini is opt-in and subject to free-tier availability. The demo uses a frozen local snapshot; the team should rehearse the clean-machine workflow before presenting.</a:t>
            </a:r>
          </a:p>
        </p:txBody>
      </p:sp>
      <p:sp>
        <p:nvSpPr>
          <p:cNvPr id="4" name="">
            <a:extLst xmlns:a="http://schemas.openxmlformats.org/drawingml/2006/main">
              <a:ext uri="{FF2B5EF4-FFF2-40B4-BE49-F238E27FC236}">
                <a16:creationId xmlns:a16="http://schemas.microsoft.com/office/drawing/2014/main" id="{FF4B35B5-648D-48C3-815F-6F2AA32BB3B6}"/>
              </a:ext>
            </a:extLst>
          </p:cNvPr>
          <p:cNvSpPr>
            <a:spLocks xmlns:a="http://schemas.openxmlformats.org/drawingml/2006/main" noGrp="1"/>
          </p:cNvSpPr>
          <p:nvPr/>
        </p:nvSpPr>
        <p:spPr>
          <a:xfrm xmlns:a="http://schemas.openxmlformats.org/drawingml/2006/main">
            <a:off x="685800" y="63246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defRPr sz="1050" b="0">
                <a:solidFill>
                  <a:srgbClr val="667085"/>
                </a:solidFill>
                <a:latin typeface="Arial"/>
                <a:ea typeface="Arial"/>
                <a:cs typeface="Arial"/>
              </a:defRPr>
            </a:pPr>
            <a:r>
              <a:rPr sz="1050" b="0">
                <a:solidFill>
                  <a:srgbClr val="667085"/>
                </a:solidFill>
                <a:latin typeface="Arial"/>
                <a:ea typeface="Arial"/>
                <a:cs typeface="Arial"/>
              </a:rPr>
              <a:t>Shipping Document Verification</a:t>
            </a:r>
          </a:p>
        </p:txBody>
      </p:sp>
    </p:spTree>
    <p:extLst>
      <p:ext uri="{BB962C8B-B14F-4D97-AF65-F5344CB8AC3E}">
        <p14:creationId xmlns:p14="http://schemas.microsoft.com/office/powerpoint/2010/main" val="1374465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2026-09-20T18:33:44.5820000Z</dcterms:created>
  <dcterms:modified xsi:type="dcterms:W3CDTF">2026-09-20T18:33:44.5820000Z</dcterms:modified>
</coreProperties>
</file>